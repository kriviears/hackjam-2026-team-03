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4e7f1d331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4e7f1d331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4e7f1d331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4e7f1d331_2_1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f4e7f1d331_2_1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f4e7f1d331_2_1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4e7f1d331_2_2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4e7f1d331_2_2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f4e7f1d331_2_2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4e7f1d331_2_5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4e7f1d331_2_5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4e7f1d331_2_5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4e7f1d331_2_9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f4e7f1d331_2_9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4e7f1d331_2_9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4e7f1d331_2_1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4e7f1d331_2_1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4e7f1d331_2_1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4e7f1d331_2_18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f4e7f1d331_2_18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4e7f1d331_2_18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4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7269480" y="-1097280"/>
            <a:ext cx="3771900" cy="3771900"/>
          </a:xfrm>
          <a:prstGeom prst="ellipse">
            <a:avLst/>
          </a:prstGeom>
          <a:solidFill>
            <a:srgbClr val="4A5A6A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-1234440" y="3154680"/>
            <a:ext cx="2880360" cy="2880360"/>
          </a:xfrm>
          <a:prstGeom prst="ellipse">
            <a:avLst/>
          </a:prstGeom>
          <a:solidFill>
            <a:srgbClr val="FF7A29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17220" y="582930"/>
            <a:ext cx="493776" cy="49377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rocket_FFFFFF.png" id="60" name="Google Shape;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320" y="694030"/>
            <a:ext cx="271576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582930" y="1748790"/>
            <a:ext cx="795528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mbria"/>
              <a:buNone/>
            </a:pPr>
            <a:r>
              <a:rPr b="1" i="0" lang="en" sz="4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FUTUREFORGE AI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603504" y="2434590"/>
            <a:ext cx="72009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C7CBD1"/>
                </a:solidFill>
                <a:latin typeface="Calibri"/>
                <a:ea typeface="Calibri"/>
                <a:cs typeface="Calibri"/>
                <a:sym typeface="Calibri"/>
              </a:rPr>
              <a:t>Helping Per Scholas learners forge their path into tech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03504" y="4697730"/>
            <a:ext cx="685800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HACKJAM 2026  ·  </a:t>
            </a:r>
            <a:r>
              <a:rPr lang="en" sz="9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0" i="0" lang="en" sz="900" u="none" cap="none" strike="noStrike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 03  ·</a:t>
            </a:r>
            <a:r>
              <a:rPr lang="en" sz="9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  Wilfried Bako &amp;  Shanu Priya</a:t>
            </a:r>
            <a:endParaRPr sz="900">
              <a:solidFill>
                <a:srgbClr val="4A5A6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7269480" y="-1097280"/>
            <a:ext cx="3771900" cy="3771900"/>
          </a:xfrm>
          <a:prstGeom prst="ellipse">
            <a:avLst/>
          </a:prstGeom>
          <a:solidFill>
            <a:srgbClr val="4A5A6A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82930" y="6172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THE IDEA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82930" y="1028700"/>
            <a:ext cx="740664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uncertainty to 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personalized roadmap.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82930" y="2537460"/>
            <a:ext cx="6720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C7CBD1"/>
                </a:solidFill>
                <a:latin typeface="Calibri"/>
                <a:ea typeface="Calibri"/>
                <a:cs typeface="Calibri"/>
                <a:sym typeface="Calibri"/>
              </a:rPr>
              <a:t>Many Per Scholians know they want a tech career — but not always what role fits them, what skills they still need, how to prepare for interviews, or how to connect with mentors and employers.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16"/>
          <p:cNvCxnSpPr/>
          <p:nvPr/>
        </p:nvCxnSpPr>
        <p:spPr>
          <a:xfrm>
            <a:off x="596646" y="3669030"/>
            <a:ext cx="1508760" cy="0"/>
          </a:xfrm>
          <a:prstGeom prst="straightConnector1">
            <a:avLst/>
          </a:prstGeom>
          <a:noFill/>
          <a:ln cap="flat" cmpd="sng" w="31750">
            <a:solidFill>
              <a:srgbClr val="FF7A2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6"/>
          <p:cNvSpPr/>
          <p:nvPr/>
        </p:nvSpPr>
        <p:spPr>
          <a:xfrm>
            <a:off x="582930" y="3806190"/>
            <a:ext cx="65151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1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solution turns career uncertainty into a personalized roadmap.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/>
          <p:nvPr/>
        </p:nvSpPr>
        <p:spPr>
          <a:xfrm>
            <a:off x="480060" y="342900"/>
            <a:ext cx="75438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300"/>
              <a:buFont typeface="Cambria"/>
              <a:buNone/>
            </a:pPr>
            <a:r>
              <a:rPr b="1" i="0" lang="en" sz="23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Three Journeys, One Shared Challenge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80060" y="768096"/>
            <a:ext cx="7543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1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starts from a different place — but shares a need for direction, readiness, and connection.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80060" y="1268730"/>
            <a:ext cx="2551176" cy="2983230"/>
          </a:xfrm>
          <a:prstGeom prst="roundRect">
            <a:avLst>
              <a:gd fmla="val 241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754380" y="1543050"/>
            <a:ext cx="514350" cy="51435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gradcap_FFFFFF.png"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942" y="169563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/>
          <p:nvPr/>
        </p:nvSpPr>
        <p:spPr>
          <a:xfrm>
            <a:off x="754380" y="2228850"/>
            <a:ext cx="2002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mbria"/>
              <a:buNone/>
            </a:pPr>
            <a:r>
              <a:rPr b="1" i="0" lang="en" sz="16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Aspiring Candidate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754380" y="260604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STARTING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754380" y="2811780"/>
            <a:ext cx="2002536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Interested in tech but unsure where they fit.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54380" y="342900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COMMON NEED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754380" y="3634740"/>
            <a:ext cx="2002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Explore realistic paths and first steps.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3271266" y="1268730"/>
            <a:ext cx="2551176" cy="2983230"/>
          </a:xfrm>
          <a:prstGeom prst="roundRect">
            <a:avLst>
              <a:gd fmla="val 241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9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3545586" y="1543050"/>
            <a:ext cx="514350" cy="51435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route_FFFFFF.png"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6236" y="1695650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3545586" y="2228850"/>
            <a:ext cx="2002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mbria"/>
              <a:buNone/>
            </a:pPr>
            <a:r>
              <a:rPr b="1" i="0" lang="en" sz="16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Current Learner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545586" y="260604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STARTING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3545586" y="2811780"/>
            <a:ext cx="2002536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Building skills through Per Scholas.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545586" y="342900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COMMON NEED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3545586" y="3634740"/>
            <a:ext cx="2002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Turn training into job readiness.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6062472" y="1268730"/>
            <a:ext cx="2551176" cy="2983230"/>
          </a:xfrm>
          <a:prstGeom prst="roundRect">
            <a:avLst>
              <a:gd fmla="val 2419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6336792" y="1543050"/>
            <a:ext cx="514350" cy="51435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telescope_FFFFFF.png"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5380" y="1671638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6336792" y="2228850"/>
            <a:ext cx="2002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400"/>
              <a:buFont typeface="Cambria"/>
              <a:buNone/>
            </a:pPr>
            <a:r>
              <a:rPr b="1" i="0" lang="en" sz="16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Alumni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336792" y="260604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STARTING 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6336792" y="2811780"/>
            <a:ext cx="2002536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Already started their tech journey.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336792" y="3429000"/>
            <a:ext cx="2002536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29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7A29"/>
                </a:solidFill>
                <a:latin typeface="Calibri"/>
                <a:ea typeface="Calibri"/>
                <a:cs typeface="Calibri"/>
                <a:sym typeface="Calibri"/>
              </a:rPr>
              <a:t>COMMON NEED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336792" y="3634740"/>
            <a:ext cx="2002536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Identify the next growth opportunity.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/>
          <p:nvPr/>
        </p:nvSpPr>
        <p:spPr>
          <a:xfrm>
            <a:off x="480060" y="342900"/>
            <a:ext cx="61722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Designing for Clarity,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100"/>
              <a:buFont typeface="Cambria"/>
              <a:buNone/>
            </a:pPr>
            <a:r>
              <a:rPr b="1" i="0" lang="en" sz="21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Readiness, and Connection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480060" y="1062990"/>
            <a:ext cx="7200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1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Five intentional design choices — not a feature list.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720090" y="1803654"/>
            <a:ext cx="0" cy="2249400"/>
          </a:xfrm>
          <a:prstGeom prst="straightConnector1">
            <a:avLst/>
          </a:prstGeom>
          <a:noFill/>
          <a:ln cap="flat" cmpd="sng" w="25400">
            <a:solidFill>
              <a:srgbClr val="4A5A6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4" name="Google Shape;114;p18"/>
          <p:cNvSpPr/>
          <p:nvPr/>
        </p:nvSpPr>
        <p:spPr>
          <a:xfrm>
            <a:off x="521208" y="1611630"/>
            <a:ext cx="397764" cy="397764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target_FFFFFF.png" id="115" name="Google Shape;11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671" y="1707093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1062990" y="1556766"/>
            <a:ext cx="29489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Persona-based intake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883760" y="1556766"/>
            <a:ext cx="507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Meets users where they are: aspiring candidate, learner, or alumni.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521208" y="2173986"/>
            <a:ext cx="397764" cy="397764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sparkles_FFFFFF.png" id="119" name="Google Shape;11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671" y="2269449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1062990" y="2119122"/>
            <a:ext cx="29489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AI-generated readiness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3883760" y="2119122"/>
            <a:ext cx="507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Surfaces real gaps across skills, interviews, applications, and connections.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21208" y="2736342"/>
            <a:ext cx="397764" cy="397764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route_FFFFFF.png" id="123" name="Google Shape;12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671" y="2831805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1062990" y="2681478"/>
            <a:ext cx="29489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Visual career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883760" y="2681478"/>
            <a:ext cx="507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Makes the path forward visible and actionable.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521208" y="3298698"/>
            <a:ext cx="397764" cy="397764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filecheck_FFFFFF.png" id="127" name="Google Shape;12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671" y="3394161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1062990" y="3243846"/>
            <a:ext cx="2949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Local networking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3883760" y="3243834"/>
            <a:ext cx="507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 tech orgs and meetup spaces nearby — starting with groups like TAG — via Google Places.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521208" y="3861054"/>
            <a:ext cx="397800" cy="39780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users_FFFFFF.png" id="131" name="Google Shape;13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6671" y="3956492"/>
            <a:ext cx="206837" cy="20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8"/>
          <p:cNvSpPr/>
          <p:nvPr/>
        </p:nvSpPr>
        <p:spPr>
          <a:xfrm>
            <a:off x="987565" y="3806215"/>
            <a:ext cx="2949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t/>
            </a:r>
            <a:endParaRPr b="1" sz="1200">
              <a:solidFill>
                <a:srgbClr val="1A1D2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Mentor and </a:t>
            </a: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live opportunity matching</a:t>
            </a:r>
            <a:endParaRPr b="1" i="0" sz="1200" u="none" cap="none" strike="noStrike">
              <a:solidFill>
                <a:srgbClr val="1A1D23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3883760" y="3806190"/>
            <a:ext cx="5074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Moves users beyond self-guided learning into relationship-driven opportunity</a:t>
            </a:r>
            <a:r>
              <a:rPr lang="en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, job-posting coverage.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18"/>
          <p:cNvCxnSpPr>
            <a:stCxn id="135" idx="0"/>
            <a:endCxn id="135" idx="0"/>
          </p:cNvCxnSpPr>
          <p:nvPr/>
        </p:nvCxnSpPr>
        <p:spPr>
          <a:xfrm>
            <a:off x="720083" y="4423454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/>
          <p:nvPr/>
        </p:nvSpPr>
        <p:spPr>
          <a:xfrm>
            <a:off x="480060" y="377190"/>
            <a:ext cx="68580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Why FutureForge?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80060" y="1165860"/>
            <a:ext cx="3154680" cy="3360420"/>
          </a:xfrm>
          <a:prstGeom prst="roundRect">
            <a:avLst>
              <a:gd fmla="val 1957" name="adj"/>
            </a:avLst>
          </a:prstGeom>
          <a:solidFill>
            <a:srgbClr val="4A5A6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788670" y="1474470"/>
            <a:ext cx="685800" cy="68580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gradcap_FFFFFF.png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975" y="1628775"/>
            <a:ext cx="377190" cy="377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/>
          <p:nvPr/>
        </p:nvSpPr>
        <p:spPr>
          <a:xfrm>
            <a:off x="788670" y="2297430"/>
            <a:ext cx="25374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Built for Per Scholas.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mbria"/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 for everyone.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788670" y="3326130"/>
            <a:ext cx="25374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4E7E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4E7EB"/>
                </a:solidFill>
                <a:latin typeface="Calibri"/>
                <a:ea typeface="Calibri"/>
                <a:cs typeface="Calibri"/>
                <a:sym typeface="Calibri"/>
              </a:rPr>
              <a:t>Every recommendation traces back to real program data — never generic advice.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3943350" y="1268730"/>
            <a:ext cx="493776" cy="49377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gradcap_FFFFFF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66794" y="139217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/>
          <p:nvPr/>
        </p:nvSpPr>
        <p:spPr>
          <a:xfrm>
            <a:off x="4594860" y="1248156"/>
            <a:ext cx="4046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Built for Per Scholas learners &amp; alumni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594860" y="1570482"/>
            <a:ext cx="40462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Not a generic career bot — designed around this specific journey.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943350" y="2379726"/>
            <a:ext cx="493776" cy="49377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users_FFFFFF.png" id="152" name="Google Shape;15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6794" y="250317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/>
          <p:nvPr/>
        </p:nvSpPr>
        <p:spPr>
          <a:xfrm>
            <a:off x="4594860" y="2359152"/>
            <a:ext cx="4046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Connected to real resources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4594860" y="2681478"/>
            <a:ext cx="40462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Real Talent Solutions contacts, and the alumni job ecosystem.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943350" y="3490722"/>
            <a:ext cx="493776" cy="49377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database_FFFFFF.png" id="156" name="Google Shape;15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6794" y="361416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4594860" y="3470148"/>
            <a:ext cx="4046220" cy="308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2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Grounded in real program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4594860" y="3792474"/>
            <a:ext cx="40462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Actual curriculum modules and Career Accelerator courses, not guesses.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/>
          <p:nvPr/>
        </p:nvSpPr>
        <p:spPr>
          <a:xfrm>
            <a:off x="480060" y="342900"/>
            <a:ext cx="548640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What's Next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480060" y="774954"/>
            <a:ext cx="7200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Already scoped and ready to integrate — not just ideas.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0"/>
          <p:cNvCxnSpPr/>
          <p:nvPr/>
        </p:nvCxnSpPr>
        <p:spPr>
          <a:xfrm>
            <a:off x="720090" y="1680210"/>
            <a:ext cx="0" cy="2688336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167" name="Google Shape;167;p20"/>
          <p:cNvSpPr/>
          <p:nvPr/>
        </p:nvSpPr>
        <p:spPr>
          <a:xfrm>
            <a:off x="507492" y="1474470"/>
            <a:ext cx="425196" cy="42519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database_FFFFFF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39" y="1576517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/>
          <p:nvPr/>
        </p:nvSpPr>
        <p:spPr>
          <a:xfrm>
            <a:off x="1097280" y="1433322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Curriculum-grounded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3771900" y="1433322"/>
            <a:ext cx="4869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Skill gaps checked against real module sequence and Career Accelerator tracks.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07492" y="2146554"/>
            <a:ext cx="425196" cy="42519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link_FFFFFF.png" id="172" name="Google Shape;1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39" y="2248601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/>
          <p:nvPr/>
        </p:nvSpPr>
        <p:spPr>
          <a:xfrm>
            <a:off x="1097280" y="2105406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Career Accelerator course matching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3771900" y="2105406"/>
            <a:ext cx="4869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Recommends the exact next course by target role — Software Dev, Cybersecurity, and more.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07492" y="2818638"/>
            <a:ext cx="425196" cy="42519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users_FFFFFF.png" id="176" name="Google Shape;1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539" y="2920685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1097280" y="2777490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Connect All the </a:t>
            </a: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successful Alumnus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771900" y="2777490"/>
            <a:ext cx="4869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Connect all the Perschoals </a:t>
            </a:r>
            <a: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alumnus data</a:t>
            </a:r>
            <a: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 to the portal with contact detail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07492" y="3490722"/>
            <a:ext cx="425196" cy="42519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calendarclock_FFFFFF.png"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39" y="3592769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/>
          <p:nvPr/>
        </p:nvSpPr>
        <p:spPr>
          <a:xfrm>
            <a:off x="1097280" y="3449574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Future Visualization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3771900" y="3449574"/>
            <a:ext cx="4869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 AI to create compelling visual representations of a user's future career Optional.</a:t>
            </a:r>
            <a:b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Bring the journey to life through interactive maps, simulations</a:t>
            </a:r>
            <a:endParaRPr sz="11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t/>
            </a:r>
            <a:endParaRPr sz="11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07492" y="4162806"/>
            <a:ext cx="425196" cy="425196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filecheck_FFFFFF.png" id="184" name="Google Shape;18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9539" y="4264853"/>
            <a:ext cx="221102" cy="22110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1097280" y="4121658"/>
            <a:ext cx="31546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1D23"/>
              </a:buClr>
              <a:buSzPts val="1100"/>
              <a:buFont typeface="Cambria"/>
              <a:buNone/>
            </a:pPr>
            <a:r>
              <a:rPr b="1" i="0" lang="en" sz="1200" u="none" cap="none" strike="noStrike">
                <a:solidFill>
                  <a:srgbClr val="1A1D23"/>
                </a:solidFill>
                <a:latin typeface="Cambria"/>
                <a:ea typeface="Cambria"/>
                <a:cs typeface="Cambria"/>
                <a:sym typeface="Cambria"/>
              </a:rPr>
              <a:t>In-app resource library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771900" y="4121658"/>
            <a:ext cx="486918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Career-path and admissions guides linked directly where the roadmap references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-1028700" y="-1234440"/>
            <a:ext cx="3429000" cy="3429000"/>
          </a:xfrm>
          <a:prstGeom prst="ellipse">
            <a:avLst/>
          </a:prstGeom>
          <a:solidFill>
            <a:srgbClr val="FF7A29">
              <a:alpha val="1215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7406640" y="2880360"/>
            <a:ext cx="3154680" cy="3154680"/>
          </a:xfrm>
          <a:prstGeom prst="ellipse">
            <a:avLst/>
          </a:prstGeom>
          <a:solidFill>
            <a:srgbClr val="4A5A6A">
              <a:alpha val="200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4011930" y="1303020"/>
            <a:ext cx="548640" cy="548640"/>
          </a:xfrm>
          <a:prstGeom prst="ellipse">
            <a:avLst/>
          </a:prstGeom>
          <a:solidFill>
            <a:srgbClr val="FF7A2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build/icons/rocket_FFFFFF.png"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9090" y="14401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/>
          <p:nvPr/>
        </p:nvSpPr>
        <p:spPr>
          <a:xfrm>
            <a:off x="582930" y="2057400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mbria"/>
              <a:buNone/>
            </a:pPr>
            <a:r>
              <a:rPr b="1" i="0" lang="en" sz="3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582930" y="2708910"/>
            <a:ext cx="795528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CBD1"/>
              </a:buClr>
              <a:buSzPts val="1500"/>
              <a:buFont typeface="Calibri"/>
              <a:buNone/>
            </a:pPr>
            <a:r>
              <a:rPr b="0" i="1" lang="en" sz="1500" u="none" cap="none" strike="noStrike">
                <a:solidFill>
                  <a:srgbClr val="C7CBD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82930" y="4697730"/>
            <a:ext cx="795528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github.com/Kriviears/Hackjam-2026-team-03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